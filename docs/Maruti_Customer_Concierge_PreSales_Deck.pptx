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e9a456159bf455b" /><Relationship Type="http://schemas.openxmlformats.org/officeDocument/2006/relationships/extended-properties" Target="/docProps/app.xml" Id="R92c0f57a89b64f67" /><Relationship Type="http://schemas.openxmlformats.org/officeDocument/2006/relationships/officeDocument" Target="/ppt/presentation.xml" Id="R95c2953416e34de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1158ff405204321"/>
  </p:sldMasterIdLst>
  <p:notesMasterIdLst>
    <p:notesMasterId xmlns:r="http://schemas.openxmlformats.org/officeDocument/2006/relationships" r:id="R771b13be012243e4"/>
  </p:notesMasterIdLst>
  <p:sldIdLst>
    <p:sldId xmlns:r="http://schemas.openxmlformats.org/officeDocument/2006/relationships" id="256" r:id="R95d85419f99a4b89"/>
    <p:sldId xmlns:r="http://schemas.openxmlformats.org/officeDocument/2006/relationships" id="257" r:id="R993be5bb28da48ca"/>
    <p:sldId xmlns:r="http://schemas.openxmlformats.org/officeDocument/2006/relationships" id="258" r:id="R1f014ecfc3224f21"/>
    <p:sldId xmlns:r="http://schemas.openxmlformats.org/officeDocument/2006/relationships" id="259" r:id="R491dc98172164b51"/>
    <p:sldId xmlns:r="http://schemas.openxmlformats.org/officeDocument/2006/relationships" id="260" r:id="R9e6cee3c0ef14d6a"/>
    <p:sldId xmlns:r="http://schemas.openxmlformats.org/officeDocument/2006/relationships" id="261" r:id="Re775a7142b554784"/>
    <p:sldId xmlns:r="http://schemas.openxmlformats.org/officeDocument/2006/relationships" id="262" r:id="Rfbb24397fecd4adb"/>
    <p:sldId xmlns:r="http://schemas.openxmlformats.org/officeDocument/2006/relationships" id="263" r:id="Rf114e2a3c9c3480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8cad7d1dce44d3d" /><Relationship Type="http://schemas.openxmlformats.org/officeDocument/2006/relationships/slideMaster" Target="/ppt/slideMasters/slideMaster1.xml" Id="R51158ff405204321" /><Relationship Type="http://schemas.openxmlformats.org/officeDocument/2006/relationships/notesMaster" Target="/ppt/notesMasters/notesMaster1.xml" Id="R771b13be012243e4" /><Relationship Type="http://schemas.openxmlformats.org/officeDocument/2006/relationships/presProps" Target="/ppt/presProps.xml" Id="Ra7c8f03361934061" /><Relationship Type="http://schemas.openxmlformats.org/officeDocument/2006/relationships/tableStyles" Target="/ppt/tableStyles.xml" Id="Rc2724261512f4832" /><Relationship Type="http://schemas.openxmlformats.org/officeDocument/2006/relationships/slide" Target="/ppt/slides/slide1.xml" Id="R95d85419f99a4b89" /><Relationship Type="http://schemas.openxmlformats.org/officeDocument/2006/relationships/slide" Target="/ppt/slides/slide2.xml" Id="R993be5bb28da48ca" /><Relationship Type="http://schemas.openxmlformats.org/officeDocument/2006/relationships/slide" Target="/ppt/slides/slide3.xml" Id="R1f014ecfc3224f21" /><Relationship Type="http://schemas.openxmlformats.org/officeDocument/2006/relationships/slide" Target="/ppt/slides/slide4.xml" Id="R491dc98172164b51" /><Relationship Type="http://schemas.openxmlformats.org/officeDocument/2006/relationships/slide" Target="/ppt/slides/slide5.xml" Id="R9e6cee3c0ef14d6a" /><Relationship Type="http://schemas.openxmlformats.org/officeDocument/2006/relationships/slide" Target="/ppt/slides/slide6.xml" Id="Re775a7142b554784" /><Relationship Type="http://schemas.openxmlformats.org/officeDocument/2006/relationships/slide" Target="/ppt/slides/slide7.xml" Id="Rfbb24397fecd4adb" /><Relationship Type="http://schemas.openxmlformats.org/officeDocument/2006/relationships/slide" Target="/ppt/slides/slide8.xml" Id="Rf114e2a3c9c3480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db79ef86b8c414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983aec333b04c1c" /><Relationship Type="http://schemas.openxmlformats.org/officeDocument/2006/relationships/notesMaster" Target="/ppt/notesMasters/notesMaster1.xml" Id="R818fd5d6be1f4de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8e8701d748f4d76" /><Relationship Type="http://schemas.openxmlformats.org/officeDocument/2006/relationships/notesMaster" Target="/ppt/notesMasters/notesMaster1.xml" Id="Ra9afe073346d4c5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bd40da73c324038" /><Relationship Type="http://schemas.openxmlformats.org/officeDocument/2006/relationships/notesMaster" Target="/ppt/notesMasters/notesMaster1.xml" Id="R1ea3302977c54ef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3ce9688289d45c1" /><Relationship Type="http://schemas.openxmlformats.org/officeDocument/2006/relationships/notesMaster" Target="/ppt/notesMasters/notesMaster1.xml" Id="Ra9d1531bdff245c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10e928b8c10490e" /><Relationship Type="http://schemas.openxmlformats.org/officeDocument/2006/relationships/notesMaster" Target="/ppt/notesMasters/notesMaster1.xml" Id="Rf19b10664b2a425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b448e47bcd543e1" /><Relationship Type="http://schemas.openxmlformats.org/officeDocument/2006/relationships/notesMaster" Target="/ppt/notesMasters/notesMaster1.xml" Id="R2c3e388dbeb04bc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b43acbd35854374" /><Relationship Type="http://schemas.openxmlformats.org/officeDocument/2006/relationships/notesMaster" Target="/ppt/notesMasters/notesMaster1.xml" Id="R08cee0b6d06c427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dd6c364ed1645d1" /><Relationship Type="http://schemas.openxmlformats.org/officeDocument/2006/relationships/notesMaster" Target="/ppt/notesMasters/notesMaster1.xml" Id="R0a8f9830085b48e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business outcome: the demonstration is not a generic chatbot. It completes a controlled customer transaction by voice.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/Users/ranjansharma/Downloads/Sarvam_PreSales_Assignment (1).pdf</a:t>
            </a:r>
          </a:p>
          <a:p xmlns:a="http://schemas.openxmlformats.org/drawingml/2006/main">
            <a:r>
              <a:t>- https://github.com/ranjansharmaiitp/maruti-customer-concierge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 operational problem without claiming an unverified Maruti baseline. The pain is the number of handoffs between intent and a committed booking.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/Users/ranjansharma/Downloads/Sarvam_PreSales_Assignment (1).pdf</a:t>
            </a:r>
          </a:p>
          <a:p xmlns:a="http://schemas.openxmlformats.org/drawingml/2006/main">
            <a:r>
              <a:t>- Illustrative workflow analysis based on the demonstrated PoC; no Maruti operational baseline is asserted.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video to show the exact transaction: Hinglish intent, e VITARA, Dwarka dealer, date/time, home or dealer, contact details and a TD reference.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https://github.com/ranjansharmaiitp/maruti-customer-concierge/blob/main/demo/demo.mov</a:t>
            </a:r>
          </a:p>
          <a:p xmlns:a="http://schemas.openxmlformats.org/drawingml/2006/main">
            <a:r>
              <a:t>- https://github.com/ranjansharmaiitp/maruti-customer-concierge/blob/main/main.py</a:t>
            </a:r>
          </a:p>
          <a:p xmlns:a="http://schemas.openxmlformats.org/drawingml/2006/main">
            <a:r>
              <a:t>- https://github.com/ranjansharmaiitp/maruti-customer-concierge/blob/main/database.py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the natural-language surface does not mean the transaction is open-ended. Each turn advances a deterministic state.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https://github.com/ranjansharmaiitp/maruti-customer-concierge/blob/main/sarvam_service.py</a:t>
            </a:r>
          </a:p>
          <a:p xmlns:a="http://schemas.openxmlformats.org/drawingml/2006/main">
            <a:r>
              <a:t>- https://github.com/ranjansharmaiitp/maruti-customer-concierge/blob/main/tests/test_sales_workflow.py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architecture separates voice, orchestration and transaction layers. The deterministic layer owns booking decisions; the LLM remains available for free-form assistance.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https://github.com/ranjansharmaiitp/maruti-customer-concierge/blob/main/main.py</a:t>
            </a:r>
          </a:p>
          <a:p xmlns:a="http://schemas.openxmlformats.org/drawingml/2006/main">
            <a:r>
              <a:t>- https://github.com/ranjansharmaiitp/maruti-customer-concierge/blob/main/sarvam_service.py</a:t>
            </a:r>
          </a:p>
          <a:p xmlns:a="http://schemas.openxmlformats.org/drawingml/2006/main">
            <a:r>
              <a:t>- https://github.com/ranjansharmaiitp/maruti-customer-concierge/blob/main/database.py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the Sarvam story specific to what is demonstrated: STT and TTS are core to every turn. Chat Completions is the optional flexible layer, not the booking authority.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/Users/ranjansharma/Downloads/Sarvam_PreSales_Assignment (1).pdf</a:t>
            </a:r>
          </a:p>
          <a:p xmlns:a="http://schemas.openxmlformats.org/drawingml/2006/main">
            <a:r>
              <a:t>- https://github.com/ranjansharmaiitp/maruti-customer-concierge/blob/main/sarvam_service.py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numbers on this slide are illustrative assumptions for discovery. Replace them with contact-centre volumes, fully loaded cost, Sarvam pricing and funnel conversion before an investment decision.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/Users/ranjansharma/Downloads/Sarvam_PreSales_Assignment (1).pdf</a:t>
            </a:r>
          </a:p>
          <a:p xmlns:a="http://schemas.openxmlformats.org/drawingml/2006/main">
            <a:r>
              <a:t>- Illustrative PoC assumptions documented in docs/BUSINESS_WRITEUP.md; not Maruti or Sarvam actuals.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on a bounded decision: approve a two-dealer pilot and measure confirmed voice bookings completed without human re-entry.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/Users/ranjansharma/Downloads/Sarvam_PreSales_Assignment (1).pdf</a:t>
            </a:r>
          </a:p>
          <a:p xmlns:a="http://schemas.openxmlformats.org/drawingml/2006/main">
            <a:r>
              <a:t>- https://github.com/ranjansharmaiitp/maruti-customer-concierge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ac42217428470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9cf93006f854560" /><Relationship Type="http://schemas.openxmlformats.org/officeDocument/2006/relationships/slideLayout" Target="/ppt/slideLayouts/slideLayout1.xml" Id="Rcbe8f9f7cfd4460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be8f9f7cfd4460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aad5e36b5a462d" /><Relationship Type="http://schemas.openxmlformats.org/officeDocument/2006/relationships/notesSlide" Target="/ppt/notesSlides/notesSlide1.xml" Id="R3052788a831b4c6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1485d24f8645d6" /><Relationship Type="http://schemas.openxmlformats.org/officeDocument/2006/relationships/notesSlide" Target="/ppt/notesSlides/notesSlide2.xml" Id="R5b1a7d77083b492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6e53f2ec334767" /><Relationship Type="http://schemas.openxmlformats.org/officeDocument/2006/relationships/notesSlide" Target="/ppt/notesSlides/notesSlide3.xml" Id="R82cfa23d37d2447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b4fdcb447d4fbe" /><Relationship Type="http://schemas.openxmlformats.org/officeDocument/2006/relationships/notesSlide" Target="/ppt/notesSlides/notesSlide4.xml" Id="R65a7fb5b3be347b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c7a6da3f624167" /><Relationship Type="http://schemas.openxmlformats.org/officeDocument/2006/relationships/notesSlide" Target="/ppt/notesSlides/notesSlide5.xml" Id="Rf3942692334a454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d8766acd154249" /><Relationship Type="http://schemas.openxmlformats.org/officeDocument/2006/relationships/notesSlide" Target="/ppt/notesSlides/notesSlide6.xml" Id="Ra879786f2bcb484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a84eee58024a98" /><Relationship Type="http://schemas.openxmlformats.org/officeDocument/2006/relationships/notesSlide" Target="/ppt/notesSlides/notesSlide7.xml" Id="Rd016f18a340144c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ed976f86994322" /><Relationship Type="http://schemas.openxmlformats.org/officeDocument/2006/relationships/notesSlide" Target="/ppt/notesSlides/notesSlide8.xml" Id="R232353079f8a4e9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3-1">
            <a:extLst xmlns:a="http://schemas.openxmlformats.org/drawingml/2006/main">
              <a:ext uri="{FF2B5EF4-FFF2-40B4-BE49-F238E27FC236}">
                <a16:creationId xmlns:a16="http://schemas.microsoft.com/office/drawing/2014/main" id="{BB81E7B1-10AC-44B9-99A3-EC32A416C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95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Maruti Customer
Concierge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7352B985-1486-42AB-A9A8-D6C32AD5D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A6675"/>
                </a:solidFill>
                <a:latin typeface="Arial"/>
                <a:ea typeface="Arial"/>
                <a:cs typeface="Arial"/>
              </a:rPr>
              <a:t>Hinglish voice-to-booking proof of concept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Ranjan Sharma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A6675"/>
                </a:solidFill>
                <a:latin typeface="Arial"/>
                <a:ea typeface="Arial"/>
                <a:cs typeface="Arial"/>
              </a:rPr>
              <a:t>July 2026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BAF709A5-A96C-4010-876F-878E80BD8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7A00"/>
                </a:solidFill>
                <a:latin typeface="Arial"/>
                <a:ea typeface="Arial"/>
                <a:cs typeface="Arial"/>
              </a:rPr>
              <a:t>SARVAM AI · PRE-SALES ASSIGNMENT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605DEE-16AB-4F4C-B8E4-4027270E5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09600"/>
            <a:ext cx="1428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0E2"/>
          </a:solidFill>
          <a:ln xmlns:a="http://schemas.openxmlformats.org/drawingml/2006/main" w="0">
            <a:solidFill>
              <a:srgbClr val="FFF0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933EE8-D0E9-47D1-8129-B22EB7A5E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1085850"/>
            <a:ext cx="1428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4F4EF"/>
          </a:solidFill>
          <a:ln xmlns:a="http://schemas.openxmlformats.org/drawingml/2006/main" w="0">
            <a:solidFill>
              <a:srgbClr val="E4F4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C969E7-5EFC-458F-BFF0-A86A63E27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10287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7A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7A00"/>
                </a:solidFill>
                <a:latin typeface="Arial"/>
                <a:ea typeface="Arial"/>
                <a:cs typeface="Arial"/>
              </a:rPr>
              <a:t>VOICE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D672FE-4807-4DF9-97E5-85E910AD0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152400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8F6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8F6A"/>
                </a:solidFill>
                <a:latin typeface="Arial"/>
                <a:ea typeface="Arial"/>
                <a:cs typeface="Arial"/>
              </a:rPr>
              <a:t>BOOKING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EC308B-EF87-4633-8E79-804119439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953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Natural Hinglish in. A confirmed test drive out.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BBE6A8-7B99-4FD8-B102-6A4C2E5B2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57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00"/>
          </a:solidFill>
          <a:ln xmlns:a="http://schemas.openxmlformats.org/drawingml/2006/main" w="0">
            <a:solidFill>
              <a:srgbClr val="FF7A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5D389E-0B6B-4A4E-9667-B49030AB5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34125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A667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A6675"/>
                </a:solidFill>
                <a:latin typeface="Arial"/>
                <a:ea typeface="Arial"/>
                <a:cs typeface="Arial"/>
              </a:rPr>
              <a:t>AUTOMOTIVE RETAIL · VOICE + WORKFLOW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F794FE-4AED-4050-90CB-F42AB708D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A667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A667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281017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0586D0B4-9AE5-40A0-BE72-751B87A3B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0B0F14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A5D77EA0-A73F-40B4-BE78-3F8FD24D7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The bottleneck is not interest. It is orchestration.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653DABA8-C4EF-4CD4-AA78-B89D7B9E2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22406"/>
            <a:ext cx="5537168" cy="8651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A customer can be ready to test-drive a car — and still drop between the first question and a confirmed slot.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BFD5D808-9057-4B1C-BF24-3B3EA4528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0279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Hinglish intent is re-keyed</a:t>
            </a:r>
          </a:p>
        </p:txBody>
      </p:sp>
      <p:sp>
        <p:nvSpPr>
          <p:cNvPr id="5" name="Google-Shape-340-p61-6">
            <a:extLst xmlns:a="http://schemas.openxmlformats.org/drawingml/2006/main">
              <a:ext uri="{FF2B5EF4-FFF2-40B4-BE49-F238E27FC236}">
                <a16:creationId xmlns:a16="http://schemas.microsoft.com/office/drawing/2014/main" id="{454B10CB-95C0-4802-8D2D-1EFBEB7CC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3015139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6" name="TextBox-11-7">
            <a:extLst xmlns:a="http://schemas.openxmlformats.org/drawingml/2006/main">
              <a:ext uri="{FF2B5EF4-FFF2-40B4-BE49-F238E27FC236}">
                <a16:creationId xmlns:a16="http://schemas.microsoft.com/office/drawing/2014/main" id="{6A4EFFBD-AD26-4A0A-9C28-326CD5AEE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990279"/>
            <a:ext cx="5537168" cy="28846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A6675"/>
                </a:solidFill>
                <a:latin typeface="Arial"/>
                <a:ea typeface="Arial"/>
                <a:cs typeface="Arial"/>
              </a:rPr>
              <a:t>Language, qualification, dealer data and scheduling often live in different steps or systems.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A6675"/>
                </a:solidFill>
                <a:latin typeface="Arial"/>
                <a:ea typeface="Arial"/>
                <a:cs typeface="Arial"/>
              </a:rPr>
              <a:t>Every manual handoff creates delay, re-keying and a weaker close.</a:t>
            </a:r>
          </a:p>
        </p:txBody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ECDF1726-EC34-4C8D-9478-98D141241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99879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Qualification gets repeated</a:t>
            </a:r>
          </a:p>
        </p:txBody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9C82BBCE-25BF-49EC-869A-96A3D4486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3624739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Content-Placeholder-10-10">
            <a:extLst xmlns:a="http://schemas.openxmlformats.org/drawingml/2006/main">
              <a:ext uri="{FF2B5EF4-FFF2-40B4-BE49-F238E27FC236}">
                <a16:creationId xmlns:a16="http://schemas.microsoft.com/office/drawing/2014/main" id="{1059E839-6139-425F-A6DE-549BAECA8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4813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Availability lives elsewhere</a:t>
            </a:r>
          </a:p>
        </p:txBody>
      </p:sp>
      <p:sp>
        <p:nvSpPr>
          <p:cNvPr id="10" name="Google-Shape-340-p61-11">
            <a:extLst xmlns:a="http://schemas.openxmlformats.org/drawingml/2006/main">
              <a:ext uri="{FF2B5EF4-FFF2-40B4-BE49-F238E27FC236}">
                <a16:creationId xmlns:a16="http://schemas.microsoft.com/office/drawing/2014/main" id="{23806A85-CD9A-4BA2-8A39-4DBA7ED9C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239578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1" name="Content-Placeholder-10-12">
            <a:extLst xmlns:a="http://schemas.openxmlformats.org/drawingml/2006/main">
              <a:ext uri="{FF2B5EF4-FFF2-40B4-BE49-F238E27FC236}">
                <a16:creationId xmlns:a16="http://schemas.microsoft.com/office/drawing/2014/main" id="{010613AC-CB6E-49F6-8EBC-6BC722931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24317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Slots can change before commit</a:t>
            </a:r>
          </a:p>
        </p:txBody>
      </p:sp>
      <p:sp>
        <p:nvSpPr>
          <p:cNvPr id="12" name="Google-Shape-340-p61-13">
            <a:extLst xmlns:a="http://schemas.openxmlformats.org/drawingml/2006/main">
              <a:ext uri="{FF2B5EF4-FFF2-40B4-BE49-F238E27FC236}">
                <a16:creationId xmlns:a16="http://schemas.microsoft.com/office/drawing/2014/main" id="{C80A35D6-0B70-4BF0-9650-BE8BA5593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849178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3" name="Content-Placeholder-10-14">
            <a:extLst xmlns:a="http://schemas.openxmlformats.org/drawingml/2006/main">
              <a:ext uri="{FF2B5EF4-FFF2-40B4-BE49-F238E27FC236}">
                <a16:creationId xmlns:a16="http://schemas.microsoft.com/office/drawing/2014/main" id="{D8BF460F-2E67-4D9C-853D-8A9060BD8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46681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No booking ID means no closure</a:t>
            </a:r>
          </a:p>
        </p:txBody>
      </p:sp>
      <p:sp>
        <p:nvSpPr>
          <p:cNvPr id="14" name="Google-Shape-340-p61-15">
            <a:extLst xmlns:a="http://schemas.openxmlformats.org/drawingml/2006/main">
              <a:ext uri="{FF2B5EF4-FFF2-40B4-BE49-F238E27FC236}">
                <a16:creationId xmlns:a16="http://schemas.microsoft.com/office/drawing/2014/main" id="{59B014DF-C467-4DF9-9E53-613075292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5471541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565BB6-DF81-4672-A20D-A87083CBB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562100"/>
            <a:ext cx="2000250" cy="295275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FFF0E2"/>
          </a:solidFill>
          <a:ln xmlns:a="http://schemas.openxmlformats.org/drawingml/2006/main" w="0">
            <a:solidFill>
              <a:srgbClr val="FFF0E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25519F-E816-401A-9E42-47FBA0E64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6192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7A0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7A00"/>
                </a:solidFill>
                <a:latin typeface="Arial"/>
                <a:ea typeface="Arial"/>
                <a:cs typeface="Arial"/>
              </a:rPr>
              <a:t>CUSTOMER FRICTION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79D0D8-05F5-44B1-B502-BEA66E14F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57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00"/>
          </a:solidFill>
          <a:ln xmlns:a="http://schemas.openxmlformats.org/drawingml/2006/main" w="0">
            <a:solidFill>
              <a:srgbClr val="FF7A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1426FF-3BCB-44F8-B4D4-1823914F1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34125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A667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A6675"/>
                </a:solidFill>
                <a:latin typeface="Arial"/>
                <a:ea typeface="Arial"/>
                <a:cs typeface="Arial"/>
              </a:rPr>
              <a:t>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34C1A0-79A5-42DE-9E1D-C8BE26063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A667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A667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224401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85264BFB-2D1F-4FBE-84AA-640F37415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149FEECD-3989-48B7-8123-DACBEDD6E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A0B6581F-C1FE-4373-BC3D-98F72588F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6B675723-F6CF-4C8D-A10C-0D5009F4C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0B0F14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311F4F64-4591-4A15-9CE8-16AE2FD27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What the demo proves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7D696B8E-506A-4EC1-BF1D-484808804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A6675"/>
                </a:solidFill>
                <a:latin typeface="Arial"/>
                <a:ea typeface="Arial"/>
                <a:cs typeface="Arial"/>
              </a:rPr>
              <a:t>Model, location, date and time spoken naturally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C5F60C07-5A29-4E81-B36C-EE4683DA3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A6675"/>
                </a:solidFill>
                <a:latin typeface="Arial"/>
                <a:ea typeface="Arial"/>
                <a:cs typeface="Arial"/>
              </a:rPr>
              <a:t>Booking committed and spoken back to the customer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5A42AF6A-48ED-4027-A439-EB0E95DA6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A6675"/>
                </a:solidFill>
                <a:latin typeface="Arial"/>
                <a:ea typeface="Arial"/>
                <a:cs typeface="Arial"/>
              </a:rPr>
              <a:t>Model → dealer → slot → customer details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E832D91B-D4F6-4C0C-B151-E6C0E0274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B6EF3"/>
                </a:solidFill>
                <a:latin typeface="Arial"/>
                <a:ea typeface="Arial"/>
                <a:cs typeface="Arial"/>
              </a:rPr>
              <a:t>Hinglish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854E7E41-2CD1-4502-AD5D-B03DC21CC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0B8F6A"/>
                </a:solidFill>
                <a:latin typeface="Arial"/>
                <a:ea typeface="Arial"/>
                <a:cs typeface="Arial"/>
              </a:rPr>
              <a:t>1 flow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999B4552-426C-430B-B5D0-43F163244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FF7A00"/>
                </a:solidFill>
                <a:latin typeface="Arial"/>
                <a:ea typeface="Arial"/>
                <a:cs typeface="Arial"/>
              </a:rPr>
              <a:t>TD-XXXXXXXX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B5138839-38CB-4052-96F8-A16FE6FB3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7A00"/>
                </a:solidFill>
                <a:latin typeface="Arial"/>
                <a:ea typeface="Arial"/>
                <a:cs typeface="Arial"/>
              </a:rPr>
              <a:t>ONE DEEP ENTERPRISE JOURNEY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A6675"/>
                </a:solidFill>
                <a:latin typeface="Arial"/>
                <a:ea typeface="Arial"/>
                <a:cs typeface="Arial"/>
              </a:rPr>
              <a:t>A customer speaks naturally, receives grounded choices, and completes a test-drive booking without touching a form.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69E036-8205-400D-ACDF-F4281A90E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57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00"/>
          </a:solidFill>
          <a:ln xmlns:a="http://schemas.openxmlformats.org/drawingml/2006/main" w="0">
            <a:solidFill>
              <a:srgbClr val="FF7A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4F8D45-5070-45A4-A893-962DA41DC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34125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A667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A6675"/>
                </a:solidFill>
                <a:latin typeface="Arial"/>
                <a:ea typeface="Arial"/>
                <a:cs typeface="Arial"/>
              </a:rPr>
              <a:t>DEMONSTRATED OUTCOME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D670D8-512C-4B95-BCC5-91638433F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A667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A667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856737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8829C3E9-9880-40DB-9ADC-9FC7905D1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0B0F14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FA52B9B9-9729-495A-B24D-E5A3A6D78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The customer journey has three controlled moments</a:t>
            </a:r>
          </a:p>
        </p:txBody>
      </p:sp>
      <p:cxnSp>
        <p:nvCxnSpPr>
          <p:cNvPr id="19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19E9FA20-6CFD-4C07-8491-91BEB4E4C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434ED40A-2FBF-45B4-9A53-483CFC330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CF2D8593-4AF2-453C-A3AD-2F08EEE47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6272DA78-1314-4710-A908-2A0C695AA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7A00"/>
                </a:solidFill>
                <a:latin typeface="Arial"/>
                <a:ea typeface="Arial"/>
                <a:cs typeface="Arial"/>
              </a:rPr>
              <a:t>DISCOVER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BA3B893F-1740-4118-8792-01606FC53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B6EF3"/>
                </a:solidFill>
                <a:latin typeface="Arial"/>
                <a:ea typeface="Arial"/>
                <a:cs typeface="Arial"/>
              </a:rPr>
              <a:t>SCHEDULE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45A7D0E1-EE32-448A-B8BE-B8CEA5CA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B8F6A"/>
                </a:solidFill>
                <a:latin typeface="Arial"/>
                <a:ea typeface="Arial"/>
                <a:cs typeface="Arial"/>
              </a:rPr>
              <a:t>COMMIT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9AAB12F2-59B5-438E-B383-FBA76248A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Date/time → location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A6675"/>
                </a:solidFill>
                <a:latin typeface="Arial"/>
                <a:ea typeface="Arial"/>
                <a:cs typeface="Arial"/>
              </a:rPr>
              <a:t>Capacity checked for the selected model, dealer and slot.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86141A66-E74A-44B1-9BAD-2E035E3E4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Intent → model → dealer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A6675"/>
                </a:solidFill>
                <a:latin typeface="Arial"/>
                <a:ea typeface="Arial"/>
                <a:cs typeface="Arial"/>
              </a:rPr>
              <a:t>Natural Hinglish mapped to a grounded catalogue and nearby dealership.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9F3C7370-0AE6-4410-9B6A-5407E49E2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Customer → booking ID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A6675"/>
                </a:solidFill>
                <a:latin typeface="Arial"/>
                <a:ea typeface="Arial"/>
                <a:cs typeface="Arial"/>
              </a:rPr>
              <a:t>Contact data captured, transaction committed and reference spoken.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EF3174-7395-401F-A19A-CF73DD3CF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383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A667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A6675"/>
                </a:solidFill>
                <a:latin typeface="Arial"/>
                <a:ea typeface="Arial"/>
                <a:cs typeface="Arial"/>
              </a:rPr>
              <a:t>The assistant asks for exactly one missing field at a time.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FA2B73-9802-418E-8706-DB33DE1A8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57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00"/>
          </a:solidFill>
          <a:ln xmlns:a="http://schemas.openxmlformats.org/drawingml/2006/main" w="0">
            <a:solidFill>
              <a:srgbClr val="FF7A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29FEC0-D9A9-4075-9BDC-D2C3432BE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34125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A667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A6675"/>
                </a:solidFill>
                <a:latin typeface="Arial"/>
                <a:ea typeface="Arial"/>
                <a:cs typeface="Arial"/>
              </a:rPr>
              <a:t>VOICE-TO-BOOKING JOURNEY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E1A958-F639-4F3F-A6AD-F4A956D22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A667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A667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2401481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9EE17E8C-9ED9-4756-AAA7-5AC7B594E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0B0F14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3A3EB6CD-A20C-4BC8-89A3-605EC2E56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12830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Architecture: voice is flexible; booking is controlled</a:t>
            </a:r>
          </a:p>
        </p:txBody>
      </p:sp>
      <p:sp>
        <p:nvSpPr>
          <p:cNvPr id="3" name="Rounded-Rectangle-9-4">
            <a:extLst xmlns:a="http://schemas.openxmlformats.org/drawingml/2006/main">
              <a:ext uri="{FF2B5EF4-FFF2-40B4-BE49-F238E27FC236}">
                <a16:creationId xmlns:a16="http://schemas.microsoft.com/office/drawing/2014/main" id="{5C8ECEFA-5A1C-4708-BD20-F9F90DDD5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2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Rounded-Rectangle-10-5">
            <a:extLst xmlns:a="http://schemas.openxmlformats.org/drawingml/2006/main">
              <a:ext uri="{FF2B5EF4-FFF2-40B4-BE49-F238E27FC236}">
                <a16:creationId xmlns:a16="http://schemas.microsoft.com/office/drawing/2014/main" id="{74C0A4A4-560E-481D-9FA2-4D2E6A774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D8A75BC7-65C7-4A93-B38B-9227CBB5C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816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CONTROL PLANE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A6675"/>
                </a:solidFill>
                <a:latin typeface="Arial"/>
                <a:ea typeface="Arial"/>
                <a:cs typeface="Arial"/>
              </a:rPr>
              <a:t>FastAPI session orchestration
Deterministic state machine
Optional sarvam-30b free-form path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EF0D9882-7FE5-44D5-A717-B585C459E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11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TRANSACTION CORE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A6675"/>
                </a:solidFill>
                <a:latin typeface="Arial"/>
                <a:ea typeface="Arial"/>
                <a:cs typeface="Arial"/>
              </a:rPr>
              <a:t>SQLite catalogue and fleet
Atomic slot reservation
TD booking ID + future SMS adapter</a:t>
            </a:r>
          </a:p>
        </p:txBody>
      </p:sp>
      <p:sp>
        <p:nvSpPr>
          <p:cNvPr id="7" name="Google-Shape-340-p61-8">
            <a:extLst xmlns:a="http://schemas.openxmlformats.org/drawingml/2006/main">
              <a:ext uri="{FF2B5EF4-FFF2-40B4-BE49-F238E27FC236}">
                <a16:creationId xmlns:a16="http://schemas.microsoft.com/office/drawing/2014/main" id="{FAD5A2C2-7109-4DEB-B10B-C091A5E5F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26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5BBBD216-9A45-4F42-BB5D-35B4F0946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257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Rounded-Rectangle-5-10">
            <a:extLst xmlns:a="http://schemas.openxmlformats.org/drawingml/2006/main">
              <a:ext uri="{FF2B5EF4-FFF2-40B4-BE49-F238E27FC236}">
                <a16:creationId xmlns:a16="http://schemas.microsoft.com/office/drawing/2014/main" id="{EBCE2079-EDB0-421F-9B8E-FC78D2BC4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334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D027C7AA-A2A8-44F9-84AF-B6DA83950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13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VOICE EDGE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A6675"/>
                </a:solidFill>
                <a:latin typeface="Arial"/>
                <a:ea typeface="Arial"/>
                <a:cs typeface="Arial"/>
              </a:rPr>
              <a:t>Browser VAD and barge-in
Sarvam Saaras v3 STT
Sarvam Bulbul v3 TTS</a:t>
            </a:r>
          </a:p>
        </p:txBody>
      </p:sp>
      <p:sp>
        <p:nvSpPr>
          <p:cNvPr id="11" name="Google-Shape-340-p61-12">
            <a:extLst xmlns:a="http://schemas.openxmlformats.org/drawingml/2006/main">
              <a:ext uri="{FF2B5EF4-FFF2-40B4-BE49-F238E27FC236}">
                <a16:creationId xmlns:a16="http://schemas.microsoft.com/office/drawing/2014/main" id="{D867A5BF-D30B-414E-93E8-2D91D0562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41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2" name="Content-Placeholder-15-13">
            <a:extLst xmlns:a="http://schemas.openxmlformats.org/drawingml/2006/main">
              <a:ext uri="{FF2B5EF4-FFF2-40B4-BE49-F238E27FC236}">
                <a16:creationId xmlns:a16="http://schemas.microsoft.com/office/drawing/2014/main" id="{8A37988F-31CF-43E2-88ED-03D2917AB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50562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7A00"/>
                </a:solidFill>
                <a:latin typeface="Arial"/>
                <a:ea typeface="Arial"/>
                <a:cs typeface="Arial"/>
              </a:rPr>
              <a:t>HYBRID CONTROL MODEL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A6675"/>
                </a:solidFill>
                <a:latin typeface="Arial"/>
                <a:ea typeface="Arial"/>
                <a:cs typeface="Arial"/>
              </a:rPr>
              <a:t>Sarvam powers every voice turn. FastAPI and SQLite control every booking commitment.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B0F14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CDDD1D-CA3E-4F44-92CA-52A76B180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4524375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EF3"/>
          </a:solidFill>
          <a:ln xmlns:a="http://schemas.openxmlformats.org/drawingml/2006/main" w="0">
            <a:solidFill>
              <a:srgbClr val="1B6EF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DBF2C9-BA81-42AF-B7E2-95DB4790B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52437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F6A"/>
          </a:solidFill>
          <a:ln xmlns:a="http://schemas.openxmlformats.org/drawingml/2006/main" w="0">
            <a:solidFill>
              <a:srgbClr val="0B8F6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8DD63E-0F1C-44E6-90DE-3ED675AA4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76250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A667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A6675"/>
                </a:solidFill>
                <a:latin typeface="Arial"/>
                <a:ea typeface="Arial"/>
                <a:cs typeface="Arial"/>
              </a:rPr>
              <a:t>AUDIO + TEXT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29D303-F2CE-4886-874A-D038F3C52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762500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A667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A6675"/>
                </a:solidFill>
                <a:latin typeface="Arial"/>
                <a:ea typeface="Arial"/>
                <a:cs typeface="Arial"/>
              </a:rPr>
              <a:t>VALIDATED DATA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014135-A77F-4720-A4C6-50C34B318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581150"/>
            <a:ext cx="2381250" cy="295275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E9F1FF"/>
          </a:solidFill>
          <a:ln xmlns:a="http://schemas.openxmlformats.org/drawingml/2006/main" w="0">
            <a:solidFill>
              <a:srgbClr val="E9F1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211D18-63AE-412E-BAE1-752235735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6383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B6EF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B6EF3"/>
                </a:solidFill>
                <a:latin typeface="Arial"/>
                <a:ea typeface="Arial"/>
                <a:cs typeface="Arial"/>
              </a:rPr>
              <a:t>EDITABLE SYSTEM DIAGRAM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484546-DBF1-4CA2-9C00-041633831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57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00"/>
          </a:solidFill>
          <a:ln xmlns:a="http://schemas.openxmlformats.org/drawingml/2006/main" w="0">
            <a:solidFill>
              <a:srgbClr val="FF7A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0E4BFD-D226-4FE0-97D9-1667FC314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34125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A667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A6675"/>
                </a:solidFill>
                <a:latin typeface="Arial"/>
                <a:ea typeface="Arial"/>
                <a:cs typeface="Arial"/>
              </a:rPr>
              <a:t>SOLUTION ARCHITECTURE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009310-7874-43A4-AF9B-FE4EE7D82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A667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A667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3713721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FBD74E3B-9DDC-4E24-8F57-2B0A121B0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0B0F14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EF9470A4-6C93-4845-8438-0DA9588B1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Why Sarvam fits this India-first voice journey</a:t>
            </a:r>
          </a:p>
        </p:txBody>
      </p:sp>
      <p:cxnSp>
        <p:nvCxnSpPr>
          <p:cNvPr id="22" name="Google-Shape-2259-p159-4"/>
          <p:cNvCxnSpPr/>
          <p:nvPr/>
        </p:nvCxnSpPr>
        <p:spPr>
          <a:xfrm xmlns:a="http://schemas.openxmlformats.org/drawingml/2006/main">
            <a:off x="337757" y="5341620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10636A0F-02EE-409D-8C58-F45DD309A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8C558809-0817-4AD5-AA2C-361A02FD2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6662BDB0-1608-4D51-B33B-62D16D928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Rounded-Rectangle-19-8">
            <a:extLst xmlns:a="http://schemas.openxmlformats.org/drawingml/2006/main">
              <a:ext uri="{FF2B5EF4-FFF2-40B4-BE49-F238E27FC236}">
                <a16:creationId xmlns:a16="http://schemas.microsoft.com/office/drawing/2014/main" id="{203C99F3-52DC-4ABA-A101-AAEEAFB52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8-9">
            <a:extLst xmlns:a="http://schemas.openxmlformats.org/drawingml/2006/main">
              <a:ext uri="{FF2B5EF4-FFF2-40B4-BE49-F238E27FC236}">
                <a16:creationId xmlns:a16="http://schemas.microsoft.com/office/drawing/2014/main" id="{D2F82B1C-5CA3-4337-A932-A78D51E58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UNDERSTAND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A6675"/>
                </a:solidFill>
                <a:latin typeface="Arial"/>
                <a:ea typeface="Arial"/>
                <a:cs typeface="Arial"/>
              </a:rPr>
              <a:t>Saaras v3 turns Hinglish speech into the transcript that drives the workflow.</a:t>
            </a:r>
          </a:p>
        </p:txBody>
      </p:sp>
      <p:sp>
        <p:nvSpPr>
          <p:cNvPr id="9" name="Rounded-Rectangle-21-10">
            <a:extLst xmlns:a="http://schemas.openxmlformats.org/drawingml/2006/main">
              <a:ext uri="{FF2B5EF4-FFF2-40B4-BE49-F238E27FC236}">
                <a16:creationId xmlns:a16="http://schemas.microsoft.com/office/drawing/2014/main" id="{39A512FB-FF70-4985-88F8-1C68DE39F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8-11">
            <a:extLst xmlns:a="http://schemas.openxmlformats.org/drawingml/2006/main">
              <a:ext uri="{FF2B5EF4-FFF2-40B4-BE49-F238E27FC236}">
                <a16:creationId xmlns:a16="http://schemas.microsoft.com/office/drawing/2014/main" id="{9146546E-1B87-4EB9-BB9E-554336721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96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RESPOND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A6675"/>
                </a:solidFill>
                <a:latin typeface="Arial"/>
                <a:ea typeface="Arial"/>
                <a:cs typeface="Arial"/>
              </a:rPr>
              <a:t>Bulbul v3 makes each next question and the final booking ID audible.</a:t>
            </a:r>
          </a:p>
        </p:txBody>
      </p:sp>
      <p:sp>
        <p:nvSpPr>
          <p:cNvPr id="11" name="Rounded-Rectangle-23-12">
            <a:extLst xmlns:a="http://schemas.openxmlformats.org/drawingml/2006/main">
              <a:ext uri="{FF2B5EF4-FFF2-40B4-BE49-F238E27FC236}">
                <a16:creationId xmlns:a16="http://schemas.microsoft.com/office/drawing/2014/main" id="{6EC228ED-7D5D-4A27-B493-DB26FFA3D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2" name="Content-Placeholder-8-13">
            <a:extLst xmlns:a="http://schemas.openxmlformats.org/drawingml/2006/main">
              <a:ext uri="{FF2B5EF4-FFF2-40B4-BE49-F238E27FC236}">
                <a16:creationId xmlns:a16="http://schemas.microsoft.com/office/drawing/2014/main" id="{D6E73E32-8BF0-430A-8E1B-20F5CEB21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59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EXPAND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A6675"/>
                </a:solidFill>
                <a:latin typeface="Arial"/>
                <a:ea typeface="Arial"/>
                <a:cs typeface="Arial"/>
              </a:rPr>
              <a:t>The same stack creates a path to regional languages, translation and controlled LLM assistance.</a:t>
            </a:r>
          </a:p>
        </p:txBody>
      </p:sp>
      <p:sp>
        <p:nvSpPr>
          <p:cNvPr id="13" name="Text-Placeholder-16-14">
            <a:extLst xmlns:a="http://schemas.openxmlformats.org/drawingml/2006/main">
              <a:ext uri="{FF2B5EF4-FFF2-40B4-BE49-F238E27FC236}">
                <a16:creationId xmlns:a16="http://schemas.microsoft.com/office/drawing/2014/main" id="{D41DE3DB-2BC5-46A0-AADF-51B654F26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B6EF3"/>
                </a:solidFill>
                <a:latin typeface="Arial"/>
                <a:ea typeface="Arial"/>
                <a:cs typeface="Arial"/>
              </a:rPr>
              <a:t>TEXT-TO-SPEECH</a:t>
            </a:r>
          </a:p>
        </p:txBody>
      </p:sp>
      <p:sp>
        <p:nvSpPr>
          <p:cNvPr id="14" name="Text-Placeholder-16-15">
            <a:extLst xmlns:a="http://schemas.openxmlformats.org/drawingml/2006/main">
              <a:ext uri="{FF2B5EF4-FFF2-40B4-BE49-F238E27FC236}">
                <a16:creationId xmlns:a16="http://schemas.microsoft.com/office/drawing/2014/main" id="{B99ACC54-5D3D-4A15-AAAC-3D66E1F64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06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7A00"/>
                </a:solidFill>
                <a:latin typeface="Arial"/>
                <a:ea typeface="Arial"/>
                <a:cs typeface="Arial"/>
              </a:rPr>
              <a:t>SPEECH-TO-TEXT</a:t>
            </a:r>
          </a:p>
        </p:txBody>
      </p:sp>
      <p:sp>
        <p:nvSpPr>
          <p:cNvPr id="15" name="Text-Placeholder-16-16">
            <a:extLst xmlns:a="http://schemas.openxmlformats.org/drawingml/2006/main">
              <a:ext uri="{FF2B5EF4-FFF2-40B4-BE49-F238E27FC236}">
                <a16:creationId xmlns:a16="http://schemas.microsoft.com/office/drawing/2014/main" id="{06755719-88B2-41E3-BC9E-DD1674096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5409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B8F6A"/>
                </a:solidFill>
                <a:latin typeface="Arial"/>
                <a:ea typeface="Arial"/>
                <a:cs typeface="Arial"/>
              </a:rPr>
              <a:t>INDIA-LANGUAGE STACK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BB31E4-2483-4C56-A2AC-EBCC55A76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4775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A667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A6675"/>
                </a:solidFill>
                <a:latin typeface="Arial"/>
                <a:ea typeface="Arial"/>
                <a:cs typeface="Arial"/>
              </a:rPr>
              <a:t>The differentiator is not voice alone — it is voice connected to an enterprise transaction.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3ABF1D-7E54-4985-81AC-7F80D8606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57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00"/>
          </a:solidFill>
          <a:ln xmlns:a="http://schemas.openxmlformats.org/drawingml/2006/main" w="0">
            <a:solidFill>
              <a:srgbClr val="FF7A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6F723A-A700-4C13-B3DE-841767067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34125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A667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A6675"/>
                </a:solidFill>
                <a:latin typeface="Arial"/>
                <a:ea typeface="Arial"/>
                <a:cs typeface="Arial"/>
              </a:rPr>
              <a:t>WHY SARVAM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E11AA6-DCA3-41FF-B9FA-D5265994B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A667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A6675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9044041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E74AF08B-1CC2-4E34-B751-B0BA108FC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ACF6FA0A-43CC-437D-80EA-D1A83C81E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035BD31C-7123-4F12-8651-846511B12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348B40FF-663D-43BF-9B9D-2F650FAF7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0B0F14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12045546-1C4E-4DB7-A666-277AC7368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Illustrative business case — assumptions first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9CECB8E1-B4D7-4B1C-B142-C3E8B3A87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A6675"/>
                </a:solidFill>
                <a:latin typeface="Arial"/>
                <a:ea typeface="Arial"/>
                <a:cs typeface="Arial"/>
              </a:rPr>
              <a:t>illustrative monthly direct saving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AB1226AB-BD90-49B2-98E3-1111416FF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A6675"/>
                </a:solidFill>
                <a:latin typeface="Arial"/>
                <a:ea typeface="Arial"/>
                <a:cs typeface="Arial"/>
              </a:rPr>
              <a:t>extra test drives/month from +1 point conversion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FEEE779F-F6A2-4FF1-82A7-0CE58262C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A6675"/>
                </a:solidFill>
                <a:latin typeface="Arial"/>
                <a:ea typeface="Arial"/>
                <a:cs typeface="Arial"/>
              </a:rPr>
              <a:t>illustrative annualised direct saving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F5B10265-8EB2-46B7-B436-A6EFD5805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B6EF3"/>
                </a:solidFill>
                <a:latin typeface="Arial"/>
                <a:ea typeface="Arial"/>
                <a:cs typeface="Arial"/>
              </a:rPr>
              <a:t>₹2.88L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5A9F0780-07AF-4578-857F-E99EA64EC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0B8F6A"/>
                </a:solidFill>
                <a:latin typeface="Arial"/>
                <a:ea typeface="Arial"/>
                <a:cs typeface="Arial"/>
              </a:rPr>
              <a:t>₹34.56L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7BC01118-6276-4B96-B8EE-302194785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FF7A00"/>
                </a:solidFill>
                <a:latin typeface="Arial"/>
                <a:ea typeface="Arial"/>
                <a:cs typeface="Arial"/>
              </a:rPr>
              <a:t>+100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C1963A90-0721-4E60-9D5B-02D747AF3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7A00"/>
                </a:solidFill>
                <a:latin typeface="Arial"/>
                <a:ea typeface="Arial"/>
                <a:cs typeface="Arial"/>
              </a:rPr>
              <a:t>ASSUMPTION-LED MODEL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A6675"/>
                </a:solidFill>
                <a:latin typeface="Arial"/>
                <a:ea typeface="Arial"/>
                <a:cs typeface="Arial"/>
              </a:rPr>
              <a:t>10,000 interactions/month · 60% eligible · ₹60 assisted cost · ₹12 voice-AI cost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C1F1CD-76AC-4D69-BA48-1579561D5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Formula: 10,000 × 60% × (₹60 − ₹12)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4B556E-5E05-4431-B7D0-ACBC623CC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581150"/>
            <a:ext cx="2381250" cy="295275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FFF0E2"/>
          </a:solidFill>
          <a:ln xmlns:a="http://schemas.openxmlformats.org/drawingml/2006/main" w="0">
            <a:solidFill>
              <a:srgbClr val="FFF0E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99B038-6256-41DC-8F86-1D635AFBB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6383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7A0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7A00"/>
                </a:solidFill>
                <a:latin typeface="Arial"/>
                <a:ea typeface="Arial"/>
                <a:cs typeface="Arial"/>
              </a:rPr>
              <a:t>NOT A MARUTI BASELINE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C8326B-61EE-4FD7-B4D5-7E6BD38D7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57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00"/>
          </a:solidFill>
          <a:ln xmlns:a="http://schemas.openxmlformats.org/drawingml/2006/main" w="0">
            <a:solidFill>
              <a:srgbClr val="FF7A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08A649-2C3A-4105-B6D5-AD47A3D14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34125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A667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A6675"/>
                </a:solidFill>
                <a:latin typeface="Arial"/>
                <a:ea typeface="Arial"/>
                <a:cs typeface="Arial"/>
              </a:rPr>
              <a:t>BUSINESS CASE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D37579-8C12-45FA-94A8-C585AA847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A667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A6675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6115574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281DD490-0419-4C51-ABE1-22D386612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0B0F14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0954BFA0-9962-4091-8E67-6A72FD330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90 days to a measured two-dealer pilot</a:t>
            </a:r>
          </a:p>
        </p:txBody>
      </p:sp>
      <p:cxnSp>
        <p:nvCxnSpPr>
          <p:cNvPr id="24" name="Google-Shape-2259-p159-4"/>
          <p:cNvCxnSpPr/>
          <p:nvPr/>
        </p:nvCxnSpPr>
        <p:spPr>
          <a:xfrm xmlns:a="http://schemas.openxmlformats.org/drawingml/2006/main">
            <a:off x="337757" y="5341620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0FD6F3E0-54F3-48EE-ADA6-524921D2B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7AB819A0-2E33-4921-ACF3-DDE5D85F3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74BCB79A-47EC-4C84-A3C0-80EED5D1B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Rounded-Rectangle-19-8">
            <a:extLst xmlns:a="http://schemas.openxmlformats.org/drawingml/2006/main">
              <a:ext uri="{FF2B5EF4-FFF2-40B4-BE49-F238E27FC236}">
                <a16:creationId xmlns:a16="http://schemas.microsoft.com/office/drawing/2014/main" id="{94D63C0C-142F-4591-8F44-E8DED9D01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8-9">
            <a:extLst xmlns:a="http://schemas.openxmlformats.org/drawingml/2006/main">
              <a:ext uri="{FF2B5EF4-FFF2-40B4-BE49-F238E27FC236}">
                <a16:creationId xmlns:a16="http://schemas.microsoft.com/office/drawing/2014/main" id="{F6DEE19D-AB9E-484D-8FD4-CB210C333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INTEGRATE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A6675"/>
                </a:solidFill>
                <a:latin typeface="Arial"/>
                <a:ea typeface="Arial"/>
                <a:cs typeface="Arial"/>
              </a:rPr>
              <a:t>Live dealer/fleet source
Sarvam quality evaluation
Security and consent design
Sandbox SMS</a:t>
            </a:r>
          </a:p>
        </p:txBody>
      </p:sp>
      <p:sp>
        <p:nvSpPr>
          <p:cNvPr id="9" name="Rounded-Rectangle-21-10">
            <a:extLst xmlns:a="http://schemas.openxmlformats.org/drawingml/2006/main">
              <a:ext uri="{FF2B5EF4-FFF2-40B4-BE49-F238E27FC236}">
                <a16:creationId xmlns:a16="http://schemas.microsoft.com/office/drawing/2014/main" id="{A99F00C7-B902-4957-8833-D79FAE74D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8-11">
            <a:extLst xmlns:a="http://schemas.openxmlformats.org/drawingml/2006/main">
              <a:ext uri="{FF2B5EF4-FFF2-40B4-BE49-F238E27FC236}">
                <a16:creationId xmlns:a16="http://schemas.microsoft.com/office/drawing/2014/main" id="{B1E00DE5-2D38-4179-8FF6-0D8BA683A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96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HARDEN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A6675"/>
                </a:solidFill>
                <a:latin typeface="Arial"/>
                <a:ea typeface="Arial"/>
                <a:cs typeface="Arial"/>
              </a:rPr>
              <a:t>Postgres + Redis
Telephony and CRM/DMS
Observability and handoff
Regression suite</a:t>
            </a:r>
          </a:p>
        </p:txBody>
      </p:sp>
      <p:sp>
        <p:nvSpPr>
          <p:cNvPr id="11" name="Rounded-Rectangle-23-12">
            <a:extLst xmlns:a="http://schemas.openxmlformats.org/drawingml/2006/main">
              <a:ext uri="{FF2B5EF4-FFF2-40B4-BE49-F238E27FC236}">
                <a16:creationId xmlns:a16="http://schemas.microsoft.com/office/drawing/2014/main" id="{47AF3AB7-F745-470B-A5AE-7C9429DB9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2" name="Content-Placeholder-8-13">
            <a:extLst xmlns:a="http://schemas.openxmlformats.org/drawingml/2006/main">
              <a:ext uri="{FF2B5EF4-FFF2-40B4-BE49-F238E27FC236}">
                <a16:creationId xmlns:a16="http://schemas.microsoft.com/office/drawing/2014/main" id="{7C0A6542-7502-4BEC-B387-A82E9F7B5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59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PROVE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A6675"/>
                </a:solidFill>
                <a:latin typeface="Arial"/>
                <a:ea typeface="Arial"/>
                <a:cs typeface="Arial"/>
              </a:rPr>
              <a:t>Two-dealer traffic cohort
Weekly failure review
Funnel comparison
Scale/no-scale gate</a:t>
            </a:r>
          </a:p>
        </p:txBody>
      </p:sp>
      <p:sp>
        <p:nvSpPr>
          <p:cNvPr id="13" name="Text-Placeholder-16-14">
            <a:extLst xmlns:a="http://schemas.openxmlformats.org/drawingml/2006/main">
              <a:ext uri="{FF2B5EF4-FFF2-40B4-BE49-F238E27FC236}">
                <a16:creationId xmlns:a16="http://schemas.microsoft.com/office/drawing/2014/main" id="{8F5F2DEB-C32E-43DD-9BF8-066995242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B6EF3"/>
                </a:solidFill>
                <a:latin typeface="Arial"/>
                <a:ea typeface="Arial"/>
                <a:cs typeface="Arial"/>
              </a:rPr>
              <a:t>DAYS 31–60</a:t>
            </a:r>
          </a:p>
        </p:txBody>
      </p:sp>
      <p:sp>
        <p:nvSpPr>
          <p:cNvPr id="14" name="Text-Placeholder-16-15">
            <a:extLst xmlns:a="http://schemas.openxmlformats.org/drawingml/2006/main">
              <a:ext uri="{FF2B5EF4-FFF2-40B4-BE49-F238E27FC236}">
                <a16:creationId xmlns:a16="http://schemas.microsoft.com/office/drawing/2014/main" id="{1D22E3AA-9B2C-43CE-A474-B04EAEB57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06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7A00"/>
                </a:solidFill>
                <a:latin typeface="Arial"/>
                <a:ea typeface="Arial"/>
                <a:cs typeface="Arial"/>
              </a:rPr>
              <a:t>DAYS 0–30</a:t>
            </a:r>
          </a:p>
        </p:txBody>
      </p:sp>
      <p:sp>
        <p:nvSpPr>
          <p:cNvPr id="15" name="Text-Placeholder-16-16">
            <a:extLst xmlns:a="http://schemas.openxmlformats.org/drawingml/2006/main">
              <a:ext uri="{FF2B5EF4-FFF2-40B4-BE49-F238E27FC236}">
                <a16:creationId xmlns:a16="http://schemas.microsoft.com/office/drawing/2014/main" id="{F64AEF12-63F3-4101-85B9-79EA70045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5409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B8F6A"/>
                </a:solidFill>
                <a:latin typeface="Arial"/>
                <a:ea typeface="Arial"/>
                <a:cs typeface="Arial"/>
              </a:rPr>
              <a:t>DAYS 61–90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DB55EA-F16C-4AEF-97DA-2C164EDF5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00125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6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A6675"/>
                </a:solidFill>
                <a:latin typeface="Arial"/>
                <a:ea typeface="Arial"/>
                <a:cs typeface="Arial"/>
              </a:rPr>
              <a:t>PoC boundaries: browser mic · seeded inventory · in-memory sessions · simulated SMS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CB8156-FF79-4AD3-AF80-C5FF527E4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952500"/>
            <a:ext cx="2952750" cy="295275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E4F4EF"/>
          </a:solidFill>
          <a:ln xmlns:a="http://schemas.openxmlformats.org/drawingml/2006/main" w="0">
            <a:solidFill>
              <a:srgbClr val="E4F4E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BED92C-8C48-48ED-B096-894D6A8F4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009650"/>
            <a:ext cx="276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B8F6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B8F6A"/>
                </a:solidFill>
                <a:latin typeface="Arial"/>
                <a:ea typeface="Arial"/>
                <a:cs typeface="Arial"/>
              </a:rPr>
              <a:t>DECISION: APPROVE THE PILOT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12F414-5021-46BA-9F0F-1E83B29B1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57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00"/>
          </a:solidFill>
          <a:ln xmlns:a="http://schemas.openxmlformats.org/drawingml/2006/main" w="0">
            <a:solidFill>
              <a:srgbClr val="FF7A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C6DB20-73BC-4731-A12A-9D937B956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34125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A667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A6675"/>
                </a:solidFill>
                <a:latin typeface="Arial"/>
                <a:ea typeface="Arial"/>
                <a:cs typeface="Arial"/>
              </a:rPr>
              <a:t>LIMITATIONS, NEXT STEPS AND DECISION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690534-664F-4D87-B9AC-CE8456F7B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A667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A6675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5668263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2026-07-29T04:08:06.8270000Z</dcterms:created>
  <dcterms:modified xsi:type="dcterms:W3CDTF">2026-07-29T04:08:06.8270000Z</dcterms:modified>
</coreProperties>
</file>